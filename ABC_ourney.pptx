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15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572000" cy="4572000"/>
          </a:xfrm>
          <a:prstGeom prst="ellipse">
            <a:avLst/>
          </a:prstGeom>
          <a:solidFill>
            <a:srgbClr val="0E4D92">
              <a:alpha val="20000"/>
            </a:srgbClr>
          </a:solidFill>
          <a:ln w="12700">
            <a:solidFill>
              <a:srgbClr val="0E4D92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00A896">
              <a:alpha val="25000"/>
            </a:srgbClr>
          </a:solidFill>
          <a:ln w="12700">
            <a:solidFill>
              <a:srgbClr val="00A896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E4D92">
              <a:alpha val="40000"/>
            </a:srgbClr>
          </a:solidFill>
          <a:ln w="12700">
            <a:solidFill>
              <a:srgbClr val="0E4D92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411480"/>
            <a:ext cx="2560320" cy="384048"/>
          </a:xfrm>
          <a:prstGeom prst="roundRect">
            <a:avLst>
              <a:gd name="adj" fmla="val 2381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CONFLUENT CURRENT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ABC's Event Streaming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Journey with Confluent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00A896"/>
                </a:solidFill>
              </a:rPr>
              <a:t>Enterprise Streaming Transformation at Scale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566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6AD55"/>
                </a:solidFill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Programs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Adopted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51760" y="35204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51760" y="3566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6AD55"/>
                </a:solidFill>
              </a:rPr>
              <a:t>2+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65176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Programs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35204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5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566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6AD55"/>
                </a:solidFill>
              </a:rPr>
              <a:t>2024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Platform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Launched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0" y="352044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3566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6AD55"/>
                </a:solidFill>
              </a:rPr>
              <a:t>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5800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Enterprise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Platform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Platform Architecture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3931920" cy="3566160"/>
          </a:xfrm>
          <a:prstGeom prst="roundRect">
            <a:avLst>
              <a:gd name="adj" fmla="val 3846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430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4D92"/>
                </a:solidFill>
              </a:rPr>
              <a:t>☁  Confluent Cloud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1691640"/>
            <a:ext cx="3703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Enabled: December 2024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3-Month POC (Cloud + Self-Managed)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Annual license renewal: Dec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CI/CD + Terraform provisioning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Automated Schema Registry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Automated DR strategy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Premium Support included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Solution Architect engagement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0560" y="1143000"/>
            <a:ext cx="4389120" cy="3566160"/>
          </a:xfrm>
          <a:prstGeom prst="roundRect">
            <a:avLst>
              <a:gd name="adj" fmla="val 3846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143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</a:rPr>
              <a:t>⚙  Self-Managed Connect Platform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17720" y="1691640"/>
            <a:ext cx="41148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Confluent for Kubernetes (CFK)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Helm charts on AKS clusters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2× Connector large pack license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ADLS Sink Connector enabled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Splunk Sink Connector enabled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mTLS-based application access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Workload identity per app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4A5568"/>
                </a:solidFill>
              </a:rPr>
              <a:t>Private endpoints + DNS + firewall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896A7"/>
                </a:solidFill>
              </a:rPr>
              <a:t>Both platforms covered under Confluent Premium Support for all ABC Confluent clusters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Enterprise Program Adoption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4D92"/>
                </a:solidFill>
              </a:rPr>
              <a:t>ACTIVELY USING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508760"/>
            <a:ext cx="1463040" cy="749808"/>
          </a:xfrm>
          <a:prstGeom prst="roundRect">
            <a:avLst>
              <a:gd name="adj" fmla="val 12195"/>
            </a:avLst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50876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Program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554480"/>
            <a:ext cx="676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>Project A  ·  Project B  ·  Project C  ·  Project 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377440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377440"/>
            <a:ext cx="1463040" cy="749808"/>
          </a:xfrm>
          <a:prstGeom prst="roundRect">
            <a:avLst>
              <a:gd name="adj" fmla="val 1219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37744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Program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423160"/>
            <a:ext cx="676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>Project A  ·  Project 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246120"/>
            <a:ext cx="85953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1976D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246120"/>
            <a:ext cx="1463040" cy="749808"/>
          </a:xfrm>
          <a:prstGeom prst="roundRect">
            <a:avLst>
              <a:gd name="adj" fmla="val 12195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246120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Program 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291840"/>
            <a:ext cx="676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>API Platform Services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2062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A896"/>
                </a:solidFill>
              </a:rPr>
              <a:t>GETTING ONBOARDED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4553712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E0F7F4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55371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⏳  Program A  —  Onboarding in progress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4553712"/>
            <a:ext cx="4023360" cy="457200"/>
          </a:xfrm>
          <a:prstGeom prst="roundRect">
            <a:avLst>
              <a:gd name="adj" fmla="val 20000"/>
            </a:avLst>
          </a:prstGeom>
          <a:solidFill>
            <a:srgbClr val="E0F7F4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553712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⏳  Program B  —  Onboarding in progress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We Built — Platform Capabilities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704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8600" y="1280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28600" y="17373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CI/CD Automation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1752" y="2066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Terraform pipelines for Confluent Cloud resource provisioning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41448" y="11704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41448" y="1280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41448" y="17373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Connect Platform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14600" y="2066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CFK + Helm on AKS; ADLS &amp; Splunk sink connectors live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54296" y="11704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54296" y="1280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54296" y="17373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Schema Registry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7448" y="2066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Automated schema governance in Confluent Cloud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67144" y="11704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67144" y="1280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67144" y="17373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DR Strategy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40296" y="20665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Defined &amp; automated Confluent Cloud disaster recovery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29992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28600" y="31089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28600" y="35661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Internal Support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01752" y="38953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Established ABC Confluent support team + onboarding wikis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441448" y="29992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441448" y="31089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441448" y="35661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Cost Management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14600" y="38953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In-house cost calculator + annual budget estimation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54296" y="29992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54296" y="31089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654296" y="35661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mTLS Access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727448" y="38953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Venafi-based workload identity for all application access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67144" y="2999232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867144" y="31089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867144" y="35661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Documentation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40296" y="3895344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</a:rPr>
              <a:t>Topic naming, DR strategy, onboarding wiki published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Team Onboarding &amp; Operations Workflow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4300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38328" y="1252728"/>
            <a:ext cx="438912" cy="438912"/>
          </a:xfrm>
          <a:prstGeom prst="ellipse">
            <a:avLst/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252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2710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Intake &amp; Review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" y="17099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Receive request → discuss with team &amp; EA → decide: new cluster or existing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82112" y="114300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252728"/>
            <a:ext cx="438912" cy="43891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52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03904" y="12710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Cluster Decision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19272" y="17099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New: private endpoint, DNS, firewall IPs, provision cluster + topics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Existing: share IPs, open firewall, provision topics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35624" y="114300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0288D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45352" y="1252728"/>
            <a:ext cx="438912" cy="438912"/>
          </a:xfrm>
          <a:prstGeom prst="ellipse">
            <a:avLst/>
          </a:prstGeom>
          <a:solidFill>
            <a:srgbClr val="0288D1"/>
          </a:solidFill>
          <a:ln w="12700">
            <a:solidFill>
              <a:srgbClr val="028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5352" y="1252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57416" y="12710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mTLS Access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72784" y="17099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Raise Venafi requests for mTLS certs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Create workload identity, validate access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" y="301752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8328" y="312724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31455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Cloud UI Access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" y="35844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Onboard team via AD group to Confluent Cloud UI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82112" y="301752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00968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127248"/>
            <a:ext cx="438912" cy="43891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03904" y="31455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Dev Environments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319272" y="35844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Provision clusters &amp; topics across dev/test/staging during development phase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35624" y="3017520"/>
            <a:ext cx="27432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388E3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45352" y="3127248"/>
            <a:ext cx="438912" cy="438912"/>
          </a:xfrm>
          <a:prstGeom prst="ellipse">
            <a:avLst/>
          </a:prstGeom>
          <a:solidFill>
            <a:srgbClr val="388E3C"/>
          </a:solidFill>
          <a:ln w="12700">
            <a:solidFill>
              <a:srgbClr val="388E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45352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57416" y="31455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B2A"/>
                </a:solidFill>
              </a:rPr>
              <a:t>Ongoing Support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72784" y="35844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Periodic connects with ABC internal Confluent team; issue resolution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Journey Timeline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331720"/>
            <a:ext cx="804672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2103120"/>
            <a:ext cx="457200" cy="457200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96"/>
                </a:solidFill>
              </a:rPr>
              <a:t>Sep–Nov 2024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AD55"/>
                </a:solidFill>
              </a:rPr>
              <a:t>POC Phase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14904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3-month evaluation: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Confluent Cloud vs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Self-Managed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371600" y="2057400"/>
            <a:ext cx="0" cy="4572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2103120"/>
            <a:ext cx="457200" cy="457200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276148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96"/>
                </a:solidFill>
              </a:rPr>
              <a:t>Dec 2024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3090672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31089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AD55"/>
                </a:solidFill>
              </a:rPr>
              <a:t>Platform Live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96312" y="340156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Confluent Cloud enabled;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Self-Managed Connect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platform established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83480" y="2103120"/>
            <a:ext cx="457200" cy="457200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96"/>
                </a:solidFill>
              </a:rPr>
              <a:t>2025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43400" y="118872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120700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AD55"/>
                </a:solidFill>
              </a:rPr>
              <a:t>Stabilize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416552" y="14904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CI/CD automation,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DR strategy, schema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registry, support team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212080" y="2057400"/>
            <a:ext cx="0" cy="4572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03720" y="2103120"/>
            <a:ext cx="457200" cy="457200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276148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A896"/>
                </a:solidFill>
              </a:rPr>
              <a:t>2026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63640" y="3090672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31089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AD55"/>
                </a:solidFill>
              </a:rPr>
              <a:t>Scale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36792" y="340156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3 Programs live;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2 more onboarding;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Cost optimization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06640" y="205740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2057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FUTURE ▶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A896"/>
                </a:solidFill>
              </a:rPr>
              <a:t>Apache Flink  ·  Tableflow  ·  Confluent Intelligence  ·  Intake Automation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What's Next — Future Roadmap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188720"/>
            <a:ext cx="2011680" cy="3474720"/>
          </a:xfrm>
          <a:prstGeom prst="roundRect">
            <a:avLst>
              <a:gd name="adj" fmla="val 6818"/>
            </a:avLst>
          </a:prstGeom>
          <a:solidFill>
            <a:srgbClr val="F7FAFC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29844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Stream Processing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28600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28600" y="24505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Apache Flink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2926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Stream processing &amp; real-time analytics on top of Confluent Cloud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41448" y="1188720"/>
            <a:ext cx="2011680" cy="3474720"/>
          </a:xfrm>
          <a:prstGeom prst="roundRect">
            <a:avLst>
              <a:gd name="adj" fmla="val 6818"/>
            </a:avLst>
          </a:prstGeom>
          <a:solidFill>
            <a:srgbClr val="F7FAFC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129844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32888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Data Products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41448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441448" y="24505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Tableflow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32888" y="2926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Streaming tables &amp; Iceberg integration for data product delivery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54296" y="1188720"/>
            <a:ext cx="2011680" cy="3474720"/>
          </a:xfrm>
          <a:prstGeom prst="roundRect">
            <a:avLst>
              <a:gd name="adj" fmla="val 6818"/>
            </a:avLst>
          </a:prstGeom>
          <a:solidFill>
            <a:srgbClr val="F7FAFC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45736" y="129844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45736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AI/ML Ready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654296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4654296" y="24505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Confluent Intelligence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45736" y="2926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AI-powered streaming intelligence &amp; anomaly detection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67144" y="1188720"/>
            <a:ext cx="2011680" cy="3474720"/>
          </a:xfrm>
          <a:prstGeom prst="roundRect">
            <a:avLst>
              <a:gd name="adj" fmla="val 6818"/>
            </a:avLst>
          </a:prstGeom>
          <a:solidFill>
            <a:srgbClr val="F7FAFC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58584" y="129844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E4D92"/>
          </a:solidFill>
          <a:ln w="12700">
            <a:solidFill>
              <a:srgbClr val="0E4D9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58584" y="1298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Developer Experience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867144" y="17373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867144" y="24505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</a:rPr>
              <a:t>Automate Intake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58584" y="2926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</a:rPr>
              <a:t>Self-service onboarding portal to streamline cluster &amp; topic requests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896A7"/>
                </a:solidFill>
              </a:rPr>
              <a:t>Partnering closely with Confluent team for feature adoption, roadmap alignment, and ongoing support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0E4D92">
              <a:alpha val="20000"/>
            </a:srgbClr>
          </a:solidFill>
          <a:ln w="12700">
            <a:solidFill>
              <a:srgbClr val="0E4D92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2860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Key Takeaways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A896"/>
                </a:solidFill>
              </a:rPr>
              <a:t>Lessons from ABC's Confluent Journey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1426464"/>
            <a:ext cx="438912" cy="438912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19072" y="1417320"/>
            <a:ext cx="6199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Start with a focused POC — evaluate both cloud and self-managed before committing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97280" y="2048256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2103120"/>
            <a:ext cx="438912" cy="438912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9072" y="2093976"/>
            <a:ext cx="6199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governance &amp; automation early: CI/CD, Schema Registry, DR strategy from day 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97280" y="2724912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779776"/>
            <a:ext cx="438912" cy="438912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2779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9072" y="2770632"/>
            <a:ext cx="6199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Standardize onboarding: topic naming, mTLS access, and wiki docs reduce friction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97280" y="3401568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3000" y="3456432"/>
            <a:ext cx="438912" cy="438912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3456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719072" y="3447288"/>
            <a:ext cx="6199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Partner closely with Confluent — SA support and premium support accelerate success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97280" y="4078224"/>
            <a:ext cx="6949440" cy="54864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3000" y="4133088"/>
            <a:ext cx="438912" cy="438912"/>
          </a:xfrm>
          <a:prstGeom prst="ellipse">
            <a:avLst/>
          </a:prstGeom>
          <a:solidFill>
            <a:srgbClr val="F6AD55"/>
          </a:solidFill>
          <a:ln w="12700">
            <a:solidFill>
              <a:srgbClr val="F6AD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133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719072" y="4123944"/>
            <a:ext cx="6199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Think beyond messaging: plan for Flink, Tableflow, and AI-driven streaming from the start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A896"/>
                </a:solidFill>
              </a:rPr>
              <a:t>Thank You  ·  Questions?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Confluent DR: Service Discovery Pattern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78992"/>
            <a:ext cx="8686800" cy="475488"/>
          </a:xfrm>
          <a:prstGeom prst="roundRect">
            <a:avLst>
              <a:gd name="adj" fmla="val 15385"/>
            </a:avLst>
          </a:prstGeom>
          <a:solidFill>
            <a:srgbClr val="FFF5F5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3030"/>
                </a:solidFill>
              </a:rPr>
              <a:t>⚠  Challenge: Confluent Cloud has NO automatic DR failover/failback — it is a user-managed switchover, and each cluster has a different broker URL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73736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FFF5F5"/>
          </a:solidFill>
          <a:ln w="12700">
            <a:solidFill>
              <a:srgbClr val="C5303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1773936"/>
            <a:ext cx="1417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🔴  DR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Event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8600" y="22311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Confluent cluster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unavailable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18488" y="2194560"/>
            <a:ext cx="31089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066544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896"/>
                </a:solidFill>
              </a:rPr>
              <a:t>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38528" y="173736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38528" y="1773936"/>
            <a:ext cx="1417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⚙️  CI/CD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Pipeline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84248" y="22311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Automated DR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pipeline triggered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74136" y="2194560"/>
            <a:ext cx="31089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2066544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89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94176" y="173736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94176" y="1773936"/>
            <a:ext cx="1417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🔑  Azure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Key Vault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39896" y="22311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Active bootstrap URL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written to Key Vault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29784" y="2194560"/>
            <a:ext cx="31089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0096" y="2066544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89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49824" y="173736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49824" y="1773936"/>
            <a:ext cx="1417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☁️  App reads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Key Vault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95544" y="22311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Apps fetch active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broker URL on restart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85432" y="2194560"/>
            <a:ext cx="31089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2066544"/>
            <a:ext cx="18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896"/>
                </a:solidFill>
              </a:rPr>
              <a:t>▶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05472" y="1737360"/>
            <a:ext cx="1417320" cy="914400"/>
          </a:xfrm>
          <a:prstGeom prst="roundRect">
            <a:avLst>
              <a:gd name="adj" fmla="val 10000"/>
            </a:avLst>
          </a:prstGeom>
          <a:solidFill>
            <a:srgbClr val="F0FFF4"/>
          </a:solidFill>
          <a:ln w="12700">
            <a:solidFill>
              <a:srgbClr val="2767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205472" y="1773936"/>
            <a:ext cx="1417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✅  Restored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D1B2A"/>
                </a:solidFill>
              </a:rPr>
              <a:t>Service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51192" y="22311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No config changes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</a:rPr>
              <a:t>needed in apps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28600" y="283464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EBF5FB"/>
          </a:solidFill>
          <a:ln w="12700">
            <a:solidFill>
              <a:srgbClr val="0E4D9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28600" y="2834640"/>
            <a:ext cx="4160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4D92"/>
                </a:solidFill>
              </a:rPr>
              <a:t>🔧  What We Built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91840"/>
            <a:ext cx="3886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CI/CD pipelines for DR failover AND failback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Pipeline writes active cluster bootstrap URL to Azure Key Vault on every switchover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Applications read broker URL from Key Vault — zero config changes during DR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54880" y="2834640"/>
            <a:ext cx="4160520" cy="1920240"/>
          </a:xfrm>
          <a:prstGeom prst="roundRect">
            <a:avLst>
              <a:gd name="adj" fmla="val 5714"/>
            </a:avLst>
          </a:prstGeom>
          <a:solidFill>
            <a:srgbClr val="E8F8F5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2834640"/>
            <a:ext cx="4160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96"/>
                </a:solidFill>
              </a:rPr>
              <a:t>💡  Service Discovery Pattern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92040" y="3291840"/>
            <a:ext cx="3886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Confluent does not provide a single unified broker URL across clusters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Key Vault acts as the single source of truth for the active broker URL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A5568"/>
                </a:solidFill>
              </a:rPr>
              <a:t>Applications must restart to pick up new Confluent cluster metadata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28600" y="479145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276749"/>
                </a:solidFill>
              </a:rPr>
              <a:t>Result: DR switchover is fully automated with near-zero application impact — only a restart is required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ABC's Confluent Journey – Confluent Current</dc:title>
  <dc:subject>PptxGenJS Presentation</dc:subject>
  <dc:creator>PptxGenJS</dc:creator>
  <cp:lastModifiedBy>PptxGenJS</cp:lastModifiedBy>
  <cp:revision>1</cp:revision>
  <dcterms:created xsi:type="dcterms:W3CDTF">2026-06-09T02:52:00Z</dcterms:created>
  <dcterms:modified xsi:type="dcterms:W3CDTF">2026-06-09T02:52:00Z</dcterms:modified>
</cp:coreProperties>
</file>